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58" r:id="rId4"/>
    <p:sldId id="257" r:id="rId5"/>
    <p:sldId id="259" r:id="rId6"/>
    <p:sldId id="261" r:id="rId7"/>
    <p:sldId id="268" r:id="rId8"/>
    <p:sldId id="260" r:id="rId9"/>
    <p:sldId id="263" r:id="rId10"/>
    <p:sldId id="262" r:id="rId11"/>
    <p:sldId id="266" r:id="rId12"/>
    <p:sldId id="275" r:id="rId13"/>
    <p:sldId id="267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E6BDA1-660C-44E3-B8D3-B738986F10EC}" type="doc">
      <dgm:prSet loTypeId="process" loCatId="process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1EC822D0-4B77-4F25-ABD5-8949AFB965C8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/>
            <a:t>Merging</a:t>
          </a:r>
          <a:r>
            <a:rPr lang="en-US" sz="2000"/>
            <a:t/>
          </a:r>
          <a:endParaRPr lang="en-US" sz="2000"/>
        </a:p>
      </dgm:t>
    </dgm:pt>
    <dgm:pt modelId="{A55FEC0B-23EE-4CFE-8050-49CBA30A17FC}" cxnId="{B6B434C1-CF69-4330-9462-64290392F324}" type="parTrans">
      <dgm:prSet/>
      <dgm:spPr/>
      <dgm:t>
        <a:bodyPr/>
        <a:p>
          <a:endParaRPr lang="en-US"/>
        </a:p>
      </dgm:t>
    </dgm:pt>
    <dgm:pt modelId="{B0C310D3-A5C4-423C-ADC0-FD305A7B421A}" cxnId="{B6B434C1-CF69-4330-9462-64290392F324}" type="sibTrans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/>
            <a:t/>
          </a:r>
          <a:endParaRPr lang="en-US" sz="2000"/>
        </a:p>
      </dgm:t>
    </dgm:pt>
    <dgm:pt modelId="{86BF0545-C8C8-404B-B317-6B71601F8310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sz="1600"/>
            <a:t>bella/documentation/merging/</a:t>
          </a:r>
          <a:r>
            <a:rPr lang="en-US" altLang="en-US" sz="1600"/>
            <a:t>merging_log.xlsx</a:t>
          </a:r>
          <a:endParaRPr lang="en-US" altLang="en-US" sz="1600"/>
        </a:p>
      </dgm:t>
    </dgm:pt>
    <dgm:pt modelId="{A554C9B6-595F-4C42-BA2E-0AF975A6182B}" cxnId="{0A423CA1-C063-4BFE-9690-239561D76450}" type="parTrans">
      <dgm:prSet/>
      <dgm:spPr/>
      <dgm:t>
        <a:bodyPr/>
        <a:p>
          <a:endParaRPr lang="en-US"/>
        </a:p>
      </dgm:t>
    </dgm:pt>
    <dgm:pt modelId="{8F0220D1-B873-4B1C-82E7-D1658190B6B3}" cxnId="{0A423CA1-C063-4BFE-9690-239561D76450}" type="sibTrans">
      <dgm:prSet/>
      <dgm:spPr/>
      <dgm:t>
        <a:bodyPr/>
        <a:p>
          <a:endParaRPr lang="en-US"/>
        </a:p>
      </dgm:t>
    </dgm:pt>
    <dgm:pt modelId="{DDF89BE6-1BF5-44AA-A651-F0640AA6267C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 sz="1600"/>
            <a:t/>
          </a:r>
          <a:endParaRPr lang="en-US" altLang="en-US" sz="1600"/>
        </a:p>
      </dgm:t>
    </dgm:pt>
    <dgm:pt modelId="{35FF1DB6-5757-4508-B1A5-7885092CDEAA}" cxnId="{300B6400-DDAE-41EC-83B6-7ED2C9C41A02}" type="parTrans">
      <dgm:prSet/>
      <dgm:spPr/>
    </dgm:pt>
    <dgm:pt modelId="{2796010E-E141-4E9B-9E84-019BA6579C75}" cxnId="{300B6400-DDAE-41EC-83B6-7ED2C9C41A02}" type="sibTrans">
      <dgm:prSet/>
      <dgm:spPr/>
    </dgm:pt>
    <dgm:pt modelId="{6C63C26B-AF88-481F-B12F-7D285837BF9A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sz="1600">
              <a:sym typeface="+mn-ea"/>
            </a:rPr>
            <a:t>bella/</a:t>
          </a:r>
          <a:r>
            <a:rPr lang="en-US" sz="1600">
              <a:sym typeface="+mn-ea"/>
            </a:rPr>
            <a:t>code/</a:t>
          </a:r>
          <a:r>
            <a:rPr lang="en-US" altLang="en-US" sz="1600"/>
            <a:t>data_</a:t>
          </a:r>
          <a:r>
            <a:rPr lang="en-US" altLang="en-US" sz="1600"/>
            <a:t>merging</a:t>
          </a:r>
          <a:r>
            <a:rPr lang="en-US" altLang="en-US" sz="1600"/>
            <a:t>.Rmd</a:t>
          </a:r>
          <a:r>
            <a:rPr lang="en-US" altLang="en-US" sz="1600"/>
            <a:t/>
          </a:r>
          <a:endParaRPr lang="en-US" altLang="en-US" sz="1600"/>
        </a:p>
      </dgm:t>
    </dgm:pt>
    <dgm:pt modelId="{D8E44C40-71C7-4772-BDE4-7E730404CD36}" cxnId="{1E4C6CD0-6242-44E8-800C-2657D9E3A043}" type="parTrans">
      <dgm:prSet/>
      <dgm:spPr/>
    </dgm:pt>
    <dgm:pt modelId="{6C3033DD-7186-4D36-BFAD-34CA42856A8E}" cxnId="{1E4C6CD0-6242-44E8-800C-2657D9E3A043}" type="sibTrans">
      <dgm:prSet/>
      <dgm:spPr/>
    </dgm:pt>
    <dgm:pt modelId="{86FEAB3F-FBB1-46CC-9DC6-E094874805AE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/>
            <a:t>Cleaning</a:t>
          </a:r>
          <a:r>
            <a:rPr lang="en-US" sz="2000"/>
            <a:t/>
          </a:r>
          <a:endParaRPr lang="en-US" sz="2000"/>
        </a:p>
      </dgm:t>
    </dgm:pt>
    <dgm:pt modelId="{74C68F9B-1FC8-4F0A-8F6F-246FC86076E9}" cxnId="{6ED58527-1107-426F-B5AC-B1BFAE67C0CE}" type="parTrans">
      <dgm:prSet/>
      <dgm:spPr/>
      <dgm:t>
        <a:bodyPr/>
        <a:p>
          <a:endParaRPr lang="en-US"/>
        </a:p>
      </dgm:t>
    </dgm:pt>
    <dgm:pt modelId="{C7876883-34BD-4A68-A98E-D95D42D0FF9D}" cxnId="{6ED58527-1107-426F-B5AC-B1BFAE67C0CE}" type="sibTrans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/>
            <a:t/>
          </a:r>
          <a:endParaRPr lang="en-US" sz="2000"/>
        </a:p>
      </dgm:t>
    </dgm:pt>
    <dgm:pt modelId="{972233BE-F562-42C6-8E02-C376C905A446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sz="1600">
              <a:sym typeface="+mn-ea"/>
            </a:rPr>
            <a:t>bella/documentation/</a:t>
          </a:r>
          <a:r>
            <a:rPr lang="en-US" sz="1600">
              <a:sym typeface="+mn-ea"/>
            </a:rPr>
            <a:t>cleaning</a:t>
          </a:r>
          <a:r>
            <a:rPr lang="en-US" sz="1600">
              <a:sym typeface="+mn-ea"/>
            </a:rPr>
            <a:t>/</a:t>
          </a:r>
          <a:r>
            <a:rPr lang="en-US" altLang="en-US" sz="1600">
              <a:sym typeface="+mn-ea"/>
            </a:rPr>
            <a:t>cleaning_log.xlsx</a:t>
          </a:r>
          <a:endParaRPr lang="en-US" altLang="en-US" sz="1600">
            <a:sym typeface="+mn-ea"/>
          </a:endParaRPr>
        </a:p>
      </dgm:t>
    </dgm:pt>
    <dgm:pt modelId="{1B83FA22-B57F-4847-AF9E-FCABBD20370B}" cxnId="{E0781AAD-9BB8-4240-BC4C-F7DB7B7FC05B}" type="parTrans">
      <dgm:prSet/>
      <dgm:spPr/>
      <dgm:t>
        <a:bodyPr/>
        <a:p>
          <a:endParaRPr lang="en-US"/>
        </a:p>
      </dgm:t>
    </dgm:pt>
    <dgm:pt modelId="{C95400EF-05CE-49A4-A439-43C3AD15FAE2}" cxnId="{E0781AAD-9BB8-4240-BC4C-F7DB7B7FC05B}" type="sibTrans">
      <dgm:prSet/>
      <dgm:spPr/>
      <dgm:t>
        <a:bodyPr/>
        <a:p>
          <a:endParaRPr lang="en-US"/>
        </a:p>
      </dgm:t>
    </dgm:pt>
    <dgm:pt modelId="{EE6A8803-BA71-429C-A77C-7CBF544D3A15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 sz="1600">
              <a:sym typeface="+mn-ea"/>
            </a:rPr>
            <a:t/>
          </a:r>
          <a:endParaRPr lang="en-US" altLang="en-US" sz="1600">
            <a:sym typeface="+mn-ea"/>
          </a:endParaRPr>
        </a:p>
      </dgm:t>
    </dgm:pt>
    <dgm:pt modelId="{19E72D12-F364-4443-BFA1-B7F3038C36E6}" cxnId="{0076CE85-0D71-42B5-9595-C259CCE2F573}" type="parTrans">
      <dgm:prSet/>
      <dgm:spPr/>
    </dgm:pt>
    <dgm:pt modelId="{6167A5F2-9B82-438A-8393-391025EEC42C}" cxnId="{0076CE85-0D71-42B5-9595-C259CCE2F573}" type="sibTrans">
      <dgm:prSet/>
      <dgm:spPr/>
    </dgm:pt>
    <dgm:pt modelId="{E45D0742-80E6-4353-A189-43D49A8AA47F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sz="1600">
              <a:sym typeface="+mn-ea"/>
            </a:rPr>
            <a:t>bella/</a:t>
          </a:r>
          <a:r>
            <a:rPr lang="en-US" sz="1600">
              <a:sym typeface="+mn-ea"/>
            </a:rPr>
            <a:t>code/</a:t>
          </a:r>
          <a:r>
            <a:rPr lang="en-US" altLang="en-US" sz="1600">
              <a:sym typeface="+mn-ea"/>
            </a:rPr>
            <a:t>data_</a:t>
          </a:r>
          <a:r>
            <a:rPr lang="en-US" altLang="en-US" sz="1600">
              <a:sym typeface="+mn-ea"/>
            </a:rPr>
            <a:t>cleaning</a:t>
          </a:r>
          <a:r>
            <a:rPr lang="en-US" altLang="en-US" sz="1600">
              <a:sym typeface="+mn-ea"/>
            </a:rPr>
            <a:t>.Rmd</a:t>
          </a:r>
          <a:r>
            <a:rPr lang="en-US" sz="1600"/>
            <a:t/>
          </a:r>
          <a:endParaRPr lang="en-US" sz="1600"/>
        </a:p>
      </dgm:t>
    </dgm:pt>
    <dgm:pt modelId="{B33AD272-D001-4DD6-8F85-53B28E5760B8}" cxnId="{06CB79C5-E701-48B1-9F1D-6FA6A17BB21B}" type="parTrans">
      <dgm:prSet/>
      <dgm:spPr/>
    </dgm:pt>
    <dgm:pt modelId="{694D09F5-F000-4EAB-ABED-A654E88CB6D7}" cxnId="{06CB79C5-E701-48B1-9F1D-6FA6A17BB21B}" type="sibTrans">
      <dgm:prSet/>
      <dgm:spPr/>
    </dgm:pt>
    <dgm:pt modelId="{B349FD2E-4A90-427F-8442-13222811DC7E}">
      <dgm:prSet phldrT="[Text]" phldr="0" custT="1"/>
      <dgm:spPr/>
      <dgm:t>
        <a:bodyPr vert="horz" wrap="square" anchorCtr="0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/>
            <a:t>Transformation</a:t>
          </a:r>
          <a:r>
            <a:rPr lang="en-US" sz="2000"/>
            <a:t/>
          </a:r>
          <a:endParaRPr lang="en-US" sz="2000"/>
        </a:p>
      </dgm:t>
    </dgm:pt>
    <dgm:pt modelId="{81F9B442-B301-4CE5-9F77-41783846C51D}" cxnId="{141320A3-5942-4F9B-86E8-F5FF8981383F}" type="parTrans">
      <dgm:prSet/>
      <dgm:spPr/>
      <dgm:t>
        <a:bodyPr/>
        <a:p>
          <a:endParaRPr lang="en-US"/>
        </a:p>
      </dgm:t>
    </dgm:pt>
    <dgm:pt modelId="{6C33D960-524C-4E19-9279-0E1D8AB4608A}" cxnId="{141320A3-5942-4F9B-86E8-F5FF8981383F}" type="sibTrans">
      <dgm:prSet/>
      <dgm:spPr/>
      <dgm:t>
        <a:bodyPr/>
        <a:p>
          <a:endParaRPr lang="en-US"/>
        </a:p>
      </dgm:t>
    </dgm:pt>
    <dgm:pt modelId="{11EC3D9D-CABC-4F6B-8311-51EC9AF94B05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sz="1600">
              <a:sym typeface="+mn-ea"/>
            </a:rPr>
            <a:t>bella/documentation/</a:t>
          </a:r>
          <a:r>
            <a:rPr lang="en-US" altLang="en-US" sz="1600">
              <a:sym typeface="+mn-ea"/>
            </a:rPr>
            <a:t>transformation</a:t>
          </a:r>
          <a:r>
            <a:rPr lang="en-US" sz="1600">
              <a:sym typeface="+mn-ea"/>
            </a:rPr>
            <a:t>/</a:t>
          </a:r>
          <a:r>
            <a:rPr lang="en-US" altLang="en-US" sz="1600">
              <a:sym typeface="+mn-ea"/>
            </a:rPr>
            <a:t>analyzing.nb.html</a:t>
          </a:r>
          <a:endParaRPr lang="en-US" altLang="en-US" sz="1600">
            <a:sym typeface="+mn-ea"/>
          </a:endParaRPr>
        </a:p>
      </dgm:t>
    </dgm:pt>
    <dgm:pt modelId="{4CB9D39E-D2E7-4AB1-8C35-13DBC76F1E1B}" cxnId="{EAE57726-6CF4-468D-991E-A5D736CA6B24}" type="parTrans">
      <dgm:prSet/>
      <dgm:spPr/>
      <dgm:t>
        <a:bodyPr/>
        <a:p>
          <a:endParaRPr lang="en-US"/>
        </a:p>
      </dgm:t>
    </dgm:pt>
    <dgm:pt modelId="{49A756A8-869C-486D-A1C2-A9179C82C574}" cxnId="{EAE57726-6CF4-468D-991E-A5D736CA6B24}" type="sibTrans">
      <dgm:prSet/>
      <dgm:spPr/>
      <dgm:t>
        <a:bodyPr/>
        <a:p>
          <a:endParaRPr lang="en-US"/>
        </a:p>
      </dgm:t>
    </dgm:pt>
    <dgm:pt modelId="{C1B659E4-4301-4732-9C17-2B1864B0F8D1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 sz="1600">
              <a:sym typeface="+mn-ea"/>
            </a:rPr>
            <a:t/>
          </a:r>
          <a:endParaRPr lang="en-US" altLang="en-US" sz="1600">
            <a:sym typeface="+mn-ea"/>
          </a:endParaRPr>
        </a:p>
      </dgm:t>
    </dgm:pt>
    <dgm:pt modelId="{1191D103-02E2-4A65-8215-F84FEA6A0D4C}" cxnId="{C9329722-4187-4DBF-ABBB-D9DE548C50AA}" type="parTrans">
      <dgm:prSet/>
      <dgm:spPr/>
    </dgm:pt>
    <dgm:pt modelId="{F904733D-BFA8-499B-8FF4-038DE2637DB9}" cxnId="{C9329722-4187-4DBF-ABBB-D9DE548C50AA}" type="sibTrans">
      <dgm:prSet/>
      <dgm:spPr/>
    </dgm:pt>
    <dgm:pt modelId="{4492D65F-5E15-43F6-A18D-9F54EDE758B4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sz="1600">
              <a:sym typeface="+mn-ea"/>
            </a:rPr>
            <a:t>bella/</a:t>
          </a:r>
          <a:r>
            <a:rPr lang="en-US" sz="1600">
              <a:sym typeface="+mn-ea"/>
            </a:rPr>
            <a:t>code/</a:t>
          </a:r>
          <a:r>
            <a:rPr lang="en-US" altLang="en-US" sz="1600"/>
            <a:t>analyzing.Rmd</a:t>
          </a:r>
          <a:r>
            <a:rPr lang="en-US" altLang="en-US" sz="1600"/>
            <a:t/>
          </a:r>
          <a:endParaRPr lang="en-US" altLang="en-US" sz="1600"/>
        </a:p>
      </dgm:t>
    </dgm:pt>
    <dgm:pt modelId="{B3773616-8207-4CF3-B935-8C5BB9818277}" cxnId="{4AF341FA-8E56-495D-B8DE-73E53E1DD3B8}" type="parTrans">
      <dgm:prSet/>
      <dgm:spPr/>
    </dgm:pt>
    <dgm:pt modelId="{18750027-9916-4A53-BC8B-B834C2BFE46A}" cxnId="{4AF341FA-8E56-495D-B8DE-73E53E1DD3B8}" type="sibTrans">
      <dgm:prSet/>
      <dgm:spPr/>
    </dgm:pt>
    <dgm:pt modelId="{6600DED2-8216-4ABE-8A99-4882629E1A4D}" type="pres">
      <dgm:prSet presAssocID="{2FE6BDA1-660C-44E3-B8D3-B738986F10EC}" presName="linearFlow" presStyleCnt="0">
        <dgm:presLayoutVars>
          <dgm:dir/>
          <dgm:animLvl val="lvl"/>
          <dgm:resizeHandles val="exact"/>
        </dgm:presLayoutVars>
      </dgm:prSet>
      <dgm:spPr/>
    </dgm:pt>
    <dgm:pt modelId="{13EA64EB-AB03-4C80-9EEA-7CED2D89D89C}" type="pres">
      <dgm:prSet presAssocID="{1EC822D0-4B77-4F25-ABD5-8949AFB965C8}" presName="composite" presStyleCnt="0"/>
      <dgm:spPr/>
    </dgm:pt>
    <dgm:pt modelId="{CAF6A44E-174D-4D73-BBC0-9FC10FA804B9}" type="pres">
      <dgm:prSet presAssocID="{1EC822D0-4B77-4F25-ABD5-8949AFB965C8}" presName="parTx" presStyleCnt="0">
        <dgm:presLayoutVars>
          <dgm:chMax val="0"/>
          <dgm:chPref val="0"/>
          <dgm:bulletEnabled val="1"/>
        </dgm:presLayoutVars>
      </dgm:prSet>
      <dgm:spPr/>
    </dgm:pt>
    <dgm:pt modelId="{BEA8DFF6-0BBC-4765-94CE-726AE7249D2C}" type="pres">
      <dgm:prSet presAssocID="{1EC822D0-4B77-4F25-ABD5-8949AFB965C8}" presName="parSh" presStyleLbl="node1" presStyleIdx="0" presStyleCnt="3"/>
      <dgm:spPr/>
    </dgm:pt>
    <dgm:pt modelId="{A527D8D7-AE0F-41E2-B0A5-F384C5C9B908}" type="pres">
      <dgm:prSet presAssocID="{1EC822D0-4B77-4F25-ABD5-8949AFB965C8}" presName="desTx" presStyleLbl="fgAcc1" presStyleIdx="0" presStyleCnt="3">
        <dgm:presLayoutVars>
          <dgm:bulletEnabled val="1"/>
        </dgm:presLayoutVars>
      </dgm:prSet>
      <dgm:spPr/>
    </dgm:pt>
    <dgm:pt modelId="{21AD7683-4E21-48FB-A2B0-38429FA73B13}" type="pres">
      <dgm:prSet presAssocID="{B0C310D3-A5C4-423C-ADC0-FD305A7B421A}" presName="sibTrans" presStyleLbl="sibTrans2D1" presStyleIdx="0" presStyleCnt="2"/>
      <dgm:spPr/>
    </dgm:pt>
    <dgm:pt modelId="{1E817AA8-5A37-4644-9254-A1E7980637B5}" type="pres">
      <dgm:prSet presAssocID="{B0C310D3-A5C4-423C-ADC0-FD305A7B421A}" presName="connTx" presStyleCnt="0"/>
      <dgm:spPr/>
    </dgm:pt>
    <dgm:pt modelId="{4706D582-EEBF-4C1E-B7F4-A6D3E12D3072}" type="pres">
      <dgm:prSet presAssocID="{86FEAB3F-FBB1-46CC-9DC6-E094874805AE}" presName="composite" presStyleCnt="0"/>
      <dgm:spPr/>
    </dgm:pt>
    <dgm:pt modelId="{D8686130-E958-4F9D-9269-6FA1732D0A73}" type="pres">
      <dgm:prSet presAssocID="{86FEAB3F-FBB1-46CC-9DC6-E094874805AE}" presName="parTx" presStyleCnt="0">
        <dgm:presLayoutVars>
          <dgm:chMax val="0"/>
          <dgm:chPref val="0"/>
          <dgm:bulletEnabled val="1"/>
        </dgm:presLayoutVars>
      </dgm:prSet>
      <dgm:spPr/>
    </dgm:pt>
    <dgm:pt modelId="{4201241F-A758-4825-9A41-CBED0FF9E993}" type="pres">
      <dgm:prSet presAssocID="{86FEAB3F-FBB1-46CC-9DC6-E094874805AE}" presName="parSh" presStyleLbl="node1" presStyleIdx="1" presStyleCnt="3"/>
      <dgm:spPr/>
    </dgm:pt>
    <dgm:pt modelId="{BFC7A65B-961A-4F69-8CB3-248457E85C87}" type="pres">
      <dgm:prSet presAssocID="{86FEAB3F-FBB1-46CC-9DC6-E094874805AE}" presName="desTx" presStyleLbl="fgAcc1" presStyleIdx="1" presStyleCnt="3">
        <dgm:presLayoutVars>
          <dgm:bulletEnabled val="1"/>
        </dgm:presLayoutVars>
      </dgm:prSet>
      <dgm:spPr/>
    </dgm:pt>
    <dgm:pt modelId="{5D27C5B2-FAF5-4B9E-8CE5-8F54D12F7C36}" type="pres">
      <dgm:prSet presAssocID="{C7876883-34BD-4A68-A98E-D95D42D0FF9D}" presName="sibTrans" presStyleLbl="sibTrans2D1" presStyleIdx="1" presStyleCnt="2"/>
      <dgm:spPr/>
    </dgm:pt>
    <dgm:pt modelId="{F8D5EB2A-738F-4E50-B014-79322171C96A}" type="pres">
      <dgm:prSet presAssocID="{C7876883-34BD-4A68-A98E-D95D42D0FF9D}" presName="connTx" presStyleCnt="0"/>
      <dgm:spPr/>
    </dgm:pt>
    <dgm:pt modelId="{7908079C-B054-488F-B184-A0837979EED0}" type="pres">
      <dgm:prSet presAssocID="{B349FD2E-4A90-427F-8442-13222811DC7E}" presName="composite" presStyleCnt="0"/>
      <dgm:spPr/>
    </dgm:pt>
    <dgm:pt modelId="{C2722F97-5D1A-4260-B371-3A1E1DF124B3}" type="pres">
      <dgm:prSet presAssocID="{B349FD2E-4A90-427F-8442-13222811DC7E}" presName="parTx" presStyleCnt="0">
        <dgm:presLayoutVars>
          <dgm:chMax val="0"/>
          <dgm:chPref val="0"/>
          <dgm:bulletEnabled val="1"/>
        </dgm:presLayoutVars>
      </dgm:prSet>
      <dgm:spPr/>
    </dgm:pt>
    <dgm:pt modelId="{6EADA40E-ECF8-4EF2-9B35-A9DD5D6A50D5}" type="pres">
      <dgm:prSet presAssocID="{B349FD2E-4A90-427F-8442-13222811DC7E}" presName="parSh" presStyleLbl="node1" presStyleIdx="2" presStyleCnt="3"/>
      <dgm:spPr/>
    </dgm:pt>
    <dgm:pt modelId="{39BA4712-27E2-4423-ADD6-9F9BD3D8FB35}" type="pres">
      <dgm:prSet presAssocID="{B349FD2E-4A90-427F-8442-13222811DC7E}" presName="desTx" presStyleLbl="fgAcc1" presStyleIdx="2" presStyleCnt="3">
        <dgm:presLayoutVars>
          <dgm:bulletEnabled val="1"/>
        </dgm:presLayoutVars>
      </dgm:prSet>
      <dgm:spPr/>
    </dgm:pt>
  </dgm:ptLst>
  <dgm:cxnLst>
    <dgm:cxn modelId="{B6B434C1-CF69-4330-9462-64290392F324}" srcId="{2FE6BDA1-660C-44E3-B8D3-B738986F10EC}" destId="{1EC822D0-4B77-4F25-ABD5-8949AFB965C8}" srcOrd="0" destOrd="0" parTransId="{A55FEC0B-23EE-4CFE-8050-49CBA30A17FC}" sibTransId="{B0C310D3-A5C4-423C-ADC0-FD305A7B421A}"/>
    <dgm:cxn modelId="{0A423CA1-C063-4BFE-9690-239561D76450}" srcId="{1EC822D0-4B77-4F25-ABD5-8949AFB965C8}" destId="{86BF0545-C8C8-404B-B317-6B71601F8310}" srcOrd="0" destOrd="0" parTransId="{A554C9B6-595F-4C42-BA2E-0AF975A6182B}" sibTransId="{8F0220D1-B873-4B1C-82E7-D1658190B6B3}"/>
    <dgm:cxn modelId="{300B6400-DDAE-41EC-83B6-7ED2C9C41A02}" srcId="{1EC822D0-4B77-4F25-ABD5-8949AFB965C8}" destId="{DDF89BE6-1BF5-44AA-A651-F0640AA6267C}" srcOrd="1" destOrd="0" parTransId="{35FF1DB6-5757-4508-B1A5-7885092CDEAA}" sibTransId="{2796010E-E141-4E9B-9E84-019BA6579C75}"/>
    <dgm:cxn modelId="{1E4C6CD0-6242-44E8-800C-2657D9E3A043}" srcId="{1EC822D0-4B77-4F25-ABD5-8949AFB965C8}" destId="{6C63C26B-AF88-481F-B12F-7D285837BF9A}" srcOrd="2" destOrd="0" parTransId="{D8E44C40-71C7-4772-BDE4-7E730404CD36}" sibTransId="{6C3033DD-7186-4D36-BFAD-34CA42856A8E}"/>
    <dgm:cxn modelId="{6ED58527-1107-426F-B5AC-B1BFAE67C0CE}" srcId="{2FE6BDA1-660C-44E3-B8D3-B738986F10EC}" destId="{86FEAB3F-FBB1-46CC-9DC6-E094874805AE}" srcOrd="1" destOrd="0" parTransId="{74C68F9B-1FC8-4F0A-8F6F-246FC86076E9}" sibTransId="{C7876883-34BD-4A68-A98E-D95D42D0FF9D}"/>
    <dgm:cxn modelId="{E0781AAD-9BB8-4240-BC4C-F7DB7B7FC05B}" srcId="{86FEAB3F-FBB1-46CC-9DC6-E094874805AE}" destId="{972233BE-F562-42C6-8E02-C376C905A446}" srcOrd="0" destOrd="1" parTransId="{1B83FA22-B57F-4847-AF9E-FCABBD20370B}" sibTransId="{C95400EF-05CE-49A4-A439-43C3AD15FAE2}"/>
    <dgm:cxn modelId="{0076CE85-0D71-42B5-9595-C259CCE2F573}" srcId="{86FEAB3F-FBB1-46CC-9DC6-E094874805AE}" destId="{EE6A8803-BA71-429C-A77C-7CBF544D3A15}" srcOrd="1" destOrd="1" parTransId="{19E72D12-F364-4443-BFA1-B7F3038C36E6}" sibTransId="{6167A5F2-9B82-438A-8393-391025EEC42C}"/>
    <dgm:cxn modelId="{06CB79C5-E701-48B1-9F1D-6FA6A17BB21B}" srcId="{86FEAB3F-FBB1-46CC-9DC6-E094874805AE}" destId="{E45D0742-80E6-4353-A189-43D49A8AA47F}" srcOrd="2" destOrd="1" parTransId="{B33AD272-D001-4DD6-8F85-53B28E5760B8}" sibTransId="{694D09F5-F000-4EAB-ABED-A654E88CB6D7}"/>
    <dgm:cxn modelId="{141320A3-5942-4F9B-86E8-F5FF8981383F}" srcId="{2FE6BDA1-660C-44E3-B8D3-B738986F10EC}" destId="{B349FD2E-4A90-427F-8442-13222811DC7E}" srcOrd="2" destOrd="0" parTransId="{81F9B442-B301-4CE5-9F77-41783846C51D}" sibTransId="{6C33D960-524C-4E19-9279-0E1D8AB4608A}"/>
    <dgm:cxn modelId="{EAE57726-6CF4-468D-991E-A5D736CA6B24}" srcId="{B349FD2E-4A90-427F-8442-13222811DC7E}" destId="{11EC3D9D-CABC-4F6B-8311-51EC9AF94B05}" srcOrd="0" destOrd="2" parTransId="{4CB9D39E-D2E7-4AB1-8C35-13DBC76F1E1B}" sibTransId="{49A756A8-869C-486D-A1C2-A9179C82C574}"/>
    <dgm:cxn modelId="{C9329722-4187-4DBF-ABBB-D9DE548C50AA}" srcId="{B349FD2E-4A90-427F-8442-13222811DC7E}" destId="{C1B659E4-4301-4732-9C17-2B1864B0F8D1}" srcOrd="1" destOrd="2" parTransId="{1191D103-02E2-4A65-8215-F84FEA6A0D4C}" sibTransId="{F904733D-BFA8-499B-8FF4-038DE2637DB9}"/>
    <dgm:cxn modelId="{4AF341FA-8E56-495D-B8DE-73E53E1DD3B8}" srcId="{B349FD2E-4A90-427F-8442-13222811DC7E}" destId="{4492D65F-5E15-43F6-A18D-9F54EDE758B4}" srcOrd="2" destOrd="2" parTransId="{B3773616-8207-4CF3-B935-8C5BB9818277}" sibTransId="{18750027-9916-4A53-BC8B-B834C2BFE46A}"/>
    <dgm:cxn modelId="{33263FDE-B498-40DF-B63F-C0321A6975A3}" type="presOf" srcId="{2FE6BDA1-660C-44E3-B8D3-B738986F10EC}" destId="{6600DED2-8216-4ABE-8A99-4882629E1A4D}" srcOrd="0" destOrd="0" presId="urn:microsoft.com/office/officeart/2005/8/layout/process3"/>
    <dgm:cxn modelId="{02FDE4F1-C85E-4BF7-95AE-844DBA006DD1}" type="presParOf" srcId="{6600DED2-8216-4ABE-8A99-4882629E1A4D}" destId="{13EA64EB-AB03-4C80-9EEA-7CED2D89D89C}" srcOrd="0" destOrd="0" presId="urn:microsoft.com/office/officeart/2005/8/layout/process3"/>
    <dgm:cxn modelId="{0DF85526-99E8-4BBF-A017-2512ADC6EDBE}" type="presParOf" srcId="{13EA64EB-AB03-4C80-9EEA-7CED2D89D89C}" destId="{CAF6A44E-174D-4D73-BBC0-9FC10FA804B9}" srcOrd="0" destOrd="0" presId="urn:microsoft.com/office/officeart/2005/8/layout/process3"/>
    <dgm:cxn modelId="{25D7DF29-1ADF-48F7-A6BA-27C25479F2DE}" type="presOf" srcId="{1EC822D0-4B77-4F25-ABD5-8949AFB965C8}" destId="{CAF6A44E-174D-4D73-BBC0-9FC10FA804B9}" srcOrd="1" destOrd="0" presId="urn:microsoft.com/office/officeart/2005/8/layout/process3"/>
    <dgm:cxn modelId="{E1DBEA9F-6D02-4F3C-9582-A2594A33F7A7}" type="presParOf" srcId="{13EA64EB-AB03-4C80-9EEA-7CED2D89D89C}" destId="{BEA8DFF6-0BBC-4765-94CE-726AE7249D2C}" srcOrd="1" destOrd="0" presId="urn:microsoft.com/office/officeart/2005/8/layout/process3"/>
    <dgm:cxn modelId="{1A26ED60-C843-453A-9D6D-AC3BEF942BAC}" type="presOf" srcId="{1EC822D0-4B77-4F25-ABD5-8949AFB965C8}" destId="{BEA8DFF6-0BBC-4765-94CE-726AE7249D2C}" srcOrd="0" destOrd="0" presId="urn:microsoft.com/office/officeart/2005/8/layout/process3"/>
    <dgm:cxn modelId="{D120A02B-F689-4944-BE79-394507CE5EB3}" type="presParOf" srcId="{13EA64EB-AB03-4C80-9EEA-7CED2D89D89C}" destId="{A527D8D7-AE0F-41E2-B0A5-F384C5C9B908}" srcOrd="2" destOrd="0" presId="urn:microsoft.com/office/officeart/2005/8/layout/process3"/>
    <dgm:cxn modelId="{78D1E430-194B-477D-AFD8-41BFC7B7F213}" type="presOf" srcId="{86BF0545-C8C8-404B-B317-6B71601F8310}" destId="{A527D8D7-AE0F-41E2-B0A5-F384C5C9B908}" srcOrd="0" destOrd="0" presId="urn:microsoft.com/office/officeart/2005/8/layout/process3"/>
    <dgm:cxn modelId="{9F879223-188D-46B8-8BB3-80F74C984C9C}" type="presOf" srcId="{DDF89BE6-1BF5-44AA-A651-F0640AA6267C}" destId="{A527D8D7-AE0F-41E2-B0A5-F384C5C9B908}" srcOrd="0" destOrd="1" presId="urn:microsoft.com/office/officeart/2005/8/layout/process3"/>
    <dgm:cxn modelId="{140E62F4-9597-4428-8E2E-5597A51544CD}" type="presOf" srcId="{6C63C26B-AF88-481F-B12F-7D285837BF9A}" destId="{A527D8D7-AE0F-41E2-B0A5-F384C5C9B908}" srcOrd="0" destOrd="2" presId="urn:microsoft.com/office/officeart/2005/8/layout/process3"/>
    <dgm:cxn modelId="{53A91589-018F-442B-A904-5296C4A50282}" type="presParOf" srcId="{6600DED2-8216-4ABE-8A99-4882629E1A4D}" destId="{21AD7683-4E21-48FB-A2B0-38429FA73B13}" srcOrd="1" destOrd="0" presId="urn:microsoft.com/office/officeart/2005/8/layout/process3"/>
    <dgm:cxn modelId="{ECF6E194-5C6D-4F2C-BF42-96F3F5FB9981}" type="presOf" srcId="{B0C310D3-A5C4-423C-ADC0-FD305A7B421A}" destId="{21AD7683-4E21-48FB-A2B0-38429FA73B13}" srcOrd="0" destOrd="0" presId="urn:microsoft.com/office/officeart/2005/8/layout/process3"/>
    <dgm:cxn modelId="{DFC0099A-6768-4427-8205-247AD8617FC1}" type="presParOf" srcId="{21AD7683-4E21-48FB-A2B0-38429FA73B13}" destId="{1E817AA8-5A37-4644-9254-A1E7980637B5}" srcOrd="0" destOrd="1" presId="urn:microsoft.com/office/officeart/2005/8/layout/process3"/>
    <dgm:cxn modelId="{B94402F8-E0B0-440D-ACBA-10586F9EF3EA}" type="presOf" srcId="{B0C310D3-A5C4-423C-ADC0-FD305A7B421A}" destId="{1E817AA8-5A37-4644-9254-A1E7980637B5}" srcOrd="1" destOrd="0" presId="urn:microsoft.com/office/officeart/2005/8/layout/process3"/>
    <dgm:cxn modelId="{3BD22428-7FC3-41D2-AA30-1F0755FD45D1}" type="presParOf" srcId="{6600DED2-8216-4ABE-8A99-4882629E1A4D}" destId="{4706D582-EEBF-4C1E-B7F4-A6D3E12D3072}" srcOrd="2" destOrd="0" presId="urn:microsoft.com/office/officeart/2005/8/layout/process3"/>
    <dgm:cxn modelId="{D1AED376-32AD-4C06-97F3-62C343D0C99E}" type="presParOf" srcId="{4706D582-EEBF-4C1E-B7F4-A6D3E12D3072}" destId="{D8686130-E958-4F9D-9269-6FA1732D0A73}" srcOrd="0" destOrd="2" presId="urn:microsoft.com/office/officeart/2005/8/layout/process3"/>
    <dgm:cxn modelId="{5AA0D0F2-FC62-4B97-8573-87B92A4C4BEC}" type="presOf" srcId="{86FEAB3F-FBB1-46CC-9DC6-E094874805AE}" destId="{D8686130-E958-4F9D-9269-6FA1732D0A73}" srcOrd="1" destOrd="0" presId="urn:microsoft.com/office/officeart/2005/8/layout/process3"/>
    <dgm:cxn modelId="{EA7C8699-9730-4744-96ED-5AD32D5C20F4}" type="presParOf" srcId="{4706D582-EEBF-4C1E-B7F4-A6D3E12D3072}" destId="{4201241F-A758-4825-9A41-CBED0FF9E993}" srcOrd="1" destOrd="2" presId="urn:microsoft.com/office/officeart/2005/8/layout/process3"/>
    <dgm:cxn modelId="{C583FF79-F20B-4049-B807-6FF93514766F}" type="presOf" srcId="{86FEAB3F-FBB1-46CC-9DC6-E094874805AE}" destId="{4201241F-A758-4825-9A41-CBED0FF9E993}" srcOrd="0" destOrd="0" presId="urn:microsoft.com/office/officeart/2005/8/layout/process3"/>
    <dgm:cxn modelId="{31A6EE05-EB84-405D-B00B-F5CC05FBD1E0}" type="presParOf" srcId="{4706D582-EEBF-4C1E-B7F4-A6D3E12D3072}" destId="{BFC7A65B-961A-4F69-8CB3-248457E85C87}" srcOrd="2" destOrd="2" presId="urn:microsoft.com/office/officeart/2005/8/layout/process3"/>
    <dgm:cxn modelId="{42EE38A7-DBFC-4D38-9F7E-DA4C8E32A5CF}" type="presOf" srcId="{972233BE-F562-42C6-8E02-C376C905A446}" destId="{BFC7A65B-961A-4F69-8CB3-248457E85C87}" srcOrd="0" destOrd="0" presId="urn:microsoft.com/office/officeart/2005/8/layout/process3"/>
    <dgm:cxn modelId="{D0D60EBE-2460-4820-8D8E-5428579F01DD}" type="presOf" srcId="{EE6A8803-BA71-429C-A77C-7CBF544D3A15}" destId="{BFC7A65B-961A-4F69-8CB3-248457E85C87}" srcOrd="0" destOrd="1" presId="urn:microsoft.com/office/officeart/2005/8/layout/process3"/>
    <dgm:cxn modelId="{F56D0CAC-75FC-442B-A409-5CD64B4201EA}" type="presOf" srcId="{E45D0742-80E6-4353-A189-43D49A8AA47F}" destId="{BFC7A65B-961A-4F69-8CB3-248457E85C87}" srcOrd="0" destOrd="2" presId="urn:microsoft.com/office/officeart/2005/8/layout/process3"/>
    <dgm:cxn modelId="{B7C1A436-25B7-469B-8E34-FD094D55FD34}" type="presParOf" srcId="{6600DED2-8216-4ABE-8A99-4882629E1A4D}" destId="{5D27C5B2-FAF5-4B9E-8CE5-8F54D12F7C36}" srcOrd="3" destOrd="0" presId="urn:microsoft.com/office/officeart/2005/8/layout/process3"/>
    <dgm:cxn modelId="{CADE2432-EB23-4593-8B1A-A0052521EA85}" type="presOf" srcId="{C7876883-34BD-4A68-A98E-D95D42D0FF9D}" destId="{5D27C5B2-FAF5-4B9E-8CE5-8F54D12F7C36}" srcOrd="0" destOrd="0" presId="urn:microsoft.com/office/officeart/2005/8/layout/process3"/>
    <dgm:cxn modelId="{05D7A6D7-1690-49E3-BE90-EFD68D20CB42}" type="presParOf" srcId="{5D27C5B2-FAF5-4B9E-8CE5-8F54D12F7C36}" destId="{F8D5EB2A-738F-4E50-B014-79322171C96A}" srcOrd="0" destOrd="3" presId="urn:microsoft.com/office/officeart/2005/8/layout/process3"/>
    <dgm:cxn modelId="{D1EC6810-A3AF-499A-93E6-8FFB478E1E9C}" type="presOf" srcId="{C7876883-34BD-4A68-A98E-D95D42D0FF9D}" destId="{F8D5EB2A-738F-4E50-B014-79322171C96A}" srcOrd="1" destOrd="0" presId="urn:microsoft.com/office/officeart/2005/8/layout/process3"/>
    <dgm:cxn modelId="{B37A8881-A1C9-4141-8262-B489B3FF0A01}" type="presParOf" srcId="{6600DED2-8216-4ABE-8A99-4882629E1A4D}" destId="{7908079C-B054-488F-B184-A0837979EED0}" srcOrd="4" destOrd="0" presId="urn:microsoft.com/office/officeart/2005/8/layout/process3"/>
    <dgm:cxn modelId="{B0C7C5AC-8307-4BFA-849F-528B089C3BCE}" type="presParOf" srcId="{7908079C-B054-488F-B184-A0837979EED0}" destId="{C2722F97-5D1A-4260-B371-3A1E1DF124B3}" srcOrd="0" destOrd="4" presId="urn:microsoft.com/office/officeart/2005/8/layout/process3"/>
    <dgm:cxn modelId="{31373498-BC55-48D3-BBF7-1D14F5569279}" type="presOf" srcId="{B349FD2E-4A90-427F-8442-13222811DC7E}" destId="{C2722F97-5D1A-4260-B371-3A1E1DF124B3}" srcOrd="1" destOrd="0" presId="urn:microsoft.com/office/officeart/2005/8/layout/process3"/>
    <dgm:cxn modelId="{334C9AD5-BED9-4262-95DA-B684AB6FE724}" type="presParOf" srcId="{7908079C-B054-488F-B184-A0837979EED0}" destId="{6EADA40E-ECF8-4EF2-9B35-A9DD5D6A50D5}" srcOrd="1" destOrd="4" presId="urn:microsoft.com/office/officeart/2005/8/layout/process3"/>
    <dgm:cxn modelId="{D7ECA54F-2B2A-470D-863A-0410FD5CDCD4}" type="presOf" srcId="{B349FD2E-4A90-427F-8442-13222811DC7E}" destId="{6EADA40E-ECF8-4EF2-9B35-A9DD5D6A50D5}" srcOrd="0" destOrd="0" presId="urn:microsoft.com/office/officeart/2005/8/layout/process3"/>
    <dgm:cxn modelId="{02857F57-6DE3-4708-B1C2-CA355C0D86A3}" type="presParOf" srcId="{7908079C-B054-488F-B184-A0837979EED0}" destId="{39BA4712-27E2-4423-ADD6-9F9BD3D8FB35}" srcOrd="2" destOrd="4" presId="urn:microsoft.com/office/officeart/2005/8/layout/process3"/>
    <dgm:cxn modelId="{8D99954D-8C3F-45C0-A8B9-DE09EE3A7630}" type="presOf" srcId="{11EC3D9D-CABC-4F6B-8311-51EC9AF94B05}" destId="{39BA4712-27E2-4423-ADD6-9F9BD3D8FB35}" srcOrd="0" destOrd="0" presId="urn:microsoft.com/office/officeart/2005/8/layout/process3"/>
    <dgm:cxn modelId="{C730EC72-487C-4C9B-952C-6F82986E7114}" type="presOf" srcId="{C1B659E4-4301-4732-9C17-2B1864B0F8D1}" destId="{39BA4712-27E2-4423-ADD6-9F9BD3D8FB35}" srcOrd="0" destOrd="1" presId="urn:microsoft.com/office/officeart/2005/8/layout/process3"/>
    <dgm:cxn modelId="{29254112-890B-4C03-9E5E-9970B47DCD6A}" type="presOf" srcId="{4492D65F-5E15-43F6-A18D-9F54EDE758B4}" destId="{39BA4712-27E2-4423-ADD6-9F9BD3D8FB35}" srcOrd="0" destOrd="2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416030" cy="3281045"/>
        <a:chOff x="0" y="0"/>
        <a:chExt cx="11416030" cy="3281045"/>
      </a:xfrm>
    </dsp:grpSpPr>
    <dsp:sp modelId="{BEA8DFF6-0BBC-4765-94CE-726AE7249D2C}">
      <dsp:nvSpPr>
        <dsp:cNvPr id="3" name="Rounded Rectangle 2"/>
        <dsp:cNvSpPr/>
      </dsp:nvSpPr>
      <dsp:spPr bwMode="white">
        <a:xfrm>
          <a:off x="0" y="0"/>
          <a:ext cx="2584221" cy="192837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42240" tIns="142240" rIns="142240" bIns="7620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/>
            <a:t>Merging</a:t>
          </a:r>
          <a:endParaRPr lang="en-US" sz="2000"/>
        </a:p>
      </dsp:txBody>
      <dsp:txXfrm>
        <a:off x="0" y="0"/>
        <a:ext cx="2584221" cy="1928375"/>
      </dsp:txXfrm>
    </dsp:sp>
    <dsp:sp modelId="{A527D8D7-AE0F-41E2-B0A5-F384C5C9B908}">
      <dsp:nvSpPr>
        <dsp:cNvPr id="4" name="Rounded Rectangle 3"/>
        <dsp:cNvSpPr/>
      </dsp:nvSpPr>
      <dsp:spPr bwMode="white">
        <a:xfrm>
          <a:off x="529298" y="709878"/>
          <a:ext cx="2584221" cy="2571167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13792" tIns="113792" rIns="113792" bIns="113792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>
              <a:solidFill>
                <a:schemeClr val="dk1"/>
              </a:solidFill>
            </a:rPr>
            <a:t>bella/documentation/merging/</a:t>
          </a:r>
          <a:r>
            <a:rPr lang="en-US" altLang="en-US" sz="1600">
              <a:solidFill>
                <a:schemeClr val="dk1"/>
              </a:solidFill>
            </a:rPr>
            <a:t>merging_log.xlsx</a:t>
          </a:r>
          <a:endParaRPr lang="en-US" altLang="en-US" sz="160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altLang="en-US" sz="1600">
            <a:solidFill>
              <a:schemeClr val="dk1"/>
            </a:solidFill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>
              <a:solidFill>
                <a:schemeClr val="dk1"/>
              </a:solidFill>
              <a:sym typeface="+mn-ea"/>
            </a:rPr>
            <a:t>bella/</a:t>
          </a:r>
          <a:r>
            <a:rPr lang="en-US" sz="1600">
              <a:solidFill>
                <a:schemeClr val="dk1"/>
              </a:solidFill>
              <a:sym typeface="+mn-ea"/>
            </a:rPr>
            <a:t>code/</a:t>
          </a:r>
          <a:r>
            <a:rPr lang="en-US" altLang="en-US" sz="1600">
              <a:solidFill>
                <a:schemeClr val="dk1"/>
              </a:solidFill>
            </a:rPr>
            <a:t>data_</a:t>
          </a:r>
          <a:r>
            <a:rPr lang="en-US" altLang="en-US" sz="1600">
              <a:solidFill>
                <a:schemeClr val="dk1"/>
              </a:solidFill>
            </a:rPr>
            <a:t>merging</a:t>
          </a:r>
          <a:r>
            <a:rPr lang="en-US" altLang="en-US" sz="1600">
              <a:solidFill>
                <a:schemeClr val="dk1"/>
              </a:solidFill>
            </a:rPr>
            <a:t>.Rmd</a:t>
          </a:r>
          <a:endParaRPr lang="en-US" altLang="en-US" sz="1600">
            <a:solidFill>
              <a:schemeClr val="dk1"/>
            </a:solidFill>
          </a:endParaRPr>
        </a:p>
      </dsp:txBody>
      <dsp:txXfrm>
        <a:off x="529298" y="709878"/>
        <a:ext cx="2584221" cy="2571167"/>
      </dsp:txXfrm>
    </dsp:sp>
    <dsp:sp modelId="{21AD7683-4E21-48FB-A2B0-38429FA73B13}">
      <dsp:nvSpPr>
        <dsp:cNvPr id="5" name="Right Arrow 4"/>
        <dsp:cNvSpPr/>
      </dsp:nvSpPr>
      <dsp:spPr bwMode="white">
        <a:xfrm>
          <a:off x="2952474" y="33241"/>
          <a:ext cx="830528" cy="643396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2000"/>
        </a:p>
      </dsp:txBody>
      <dsp:txXfrm>
        <a:off x="2952474" y="33241"/>
        <a:ext cx="830528" cy="643396"/>
      </dsp:txXfrm>
    </dsp:sp>
    <dsp:sp modelId="{4201241F-A758-4825-9A41-CBED0FF9E993}">
      <dsp:nvSpPr>
        <dsp:cNvPr id="6" name="Rounded Rectangle 5"/>
        <dsp:cNvSpPr/>
      </dsp:nvSpPr>
      <dsp:spPr bwMode="white">
        <a:xfrm>
          <a:off x="4151255" y="0"/>
          <a:ext cx="2584221" cy="192837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42240" tIns="142240" rIns="142240" bIns="7620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/>
            <a:t>Cleaning</a:t>
          </a:r>
          <a:endParaRPr lang="en-US" sz="2000"/>
        </a:p>
      </dsp:txBody>
      <dsp:txXfrm>
        <a:off x="4151255" y="0"/>
        <a:ext cx="2584221" cy="1928375"/>
      </dsp:txXfrm>
    </dsp:sp>
    <dsp:sp modelId="{BFC7A65B-961A-4F69-8CB3-248457E85C87}">
      <dsp:nvSpPr>
        <dsp:cNvPr id="7" name="Rounded Rectangle 6"/>
        <dsp:cNvSpPr/>
      </dsp:nvSpPr>
      <dsp:spPr bwMode="white">
        <a:xfrm>
          <a:off x="4680554" y="709878"/>
          <a:ext cx="2584221" cy="2571167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13792" tIns="113792" rIns="113792" bIns="113792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>
              <a:solidFill>
                <a:schemeClr val="dk1"/>
              </a:solidFill>
              <a:sym typeface="+mn-ea"/>
            </a:rPr>
            <a:t>bella/documentation/</a:t>
          </a:r>
          <a:r>
            <a:rPr lang="en-US" sz="1600">
              <a:solidFill>
                <a:schemeClr val="dk1"/>
              </a:solidFill>
              <a:sym typeface="+mn-ea"/>
            </a:rPr>
            <a:t>cleaning</a:t>
          </a:r>
          <a:r>
            <a:rPr lang="en-US" sz="1600">
              <a:solidFill>
                <a:schemeClr val="dk1"/>
              </a:solidFill>
              <a:sym typeface="+mn-ea"/>
            </a:rPr>
            <a:t>/</a:t>
          </a:r>
          <a:r>
            <a:rPr lang="en-US" altLang="en-US" sz="1600">
              <a:solidFill>
                <a:schemeClr val="dk1"/>
              </a:solidFill>
              <a:sym typeface="+mn-ea"/>
            </a:rPr>
            <a:t>cleaning_log.xlsx</a:t>
          </a:r>
          <a:endParaRPr lang="en-US" altLang="en-US" sz="1600">
            <a:solidFill>
              <a:schemeClr val="dk1"/>
            </a:solidFill>
            <a:sym typeface="+mn-ea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altLang="en-US" sz="1600">
            <a:solidFill>
              <a:schemeClr val="dk1"/>
            </a:solidFill>
            <a:sym typeface="+mn-ea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>
              <a:solidFill>
                <a:schemeClr val="dk1"/>
              </a:solidFill>
              <a:sym typeface="+mn-ea"/>
            </a:rPr>
            <a:t>bella/</a:t>
          </a:r>
          <a:r>
            <a:rPr lang="en-US" sz="1600">
              <a:solidFill>
                <a:schemeClr val="dk1"/>
              </a:solidFill>
              <a:sym typeface="+mn-ea"/>
            </a:rPr>
            <a:t>code/</a:t>
          </a:r>
          <a:r>
            <a:rPr lang="en-US" altLang="en-US" sz="1600">
              <a:solidFill>
                <a:schemeClr val="dk1"/>
              </a:solidFill>
              <a:sym typeface="+mn-ea"/>
            </a:rPr>
            <a:t>data_</a:t>
          </a:r>
          <a:r>
            <a:rPr lang="en-US" altLang="en-US" sz="1600">
              <a:solidFill>
                <a:schemeClr val="dk1"/>
              </a:solidFill>
              <a:sym typeface="+mn-ea"/>
            </a:rPr>
            <a:t>cleaning</a:t>
          </a:r>
          <a:r>
            <a:rPr lang="en-US" altLang="en-US" sz="1600">
              <a:solidFill>
                <a:schemeClr val="dk1"/>
              </a:solidFill>
              <a:sym typeface="+mn-ea"/>
            </a:rPr>
            <a:t>.Rmd</a:t>
          </a:r>
          <a:endParaRPr lang="en-US" sz="1600">
            <a:solidFill>
              <a:schemeClr val="dk1"/>
            </a:solidFill>
          </a:endParaRPr>
        </a:p>
      </dsp:txBody>
      <dsp:txXfrm>
        <a:off x="4680554" y="709878"/>
        <a:ext cx="2584221" cy="2571167"/>
      </dsp:txXfrm>
    </dsp:sp>
    <dsp:sp modelId="{5D27C5B2-FAF5-4B9E-8CE5-8F54D12F7C36}">
      <dsp:nvSpPr>
        <dsp:cNvPr id="8" name="Right Arrow 7"/>
        <dsp:cNvSpPr/>
      </dsp:nvSpPr>
      <dsp:spPr bwMode="white">
        <a:xfrm>
          <a:off x="7103729" y="33241"/>
          <a:ext cx="830528" cy="643396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2000"/>
        </a:p>
      </dsp:txBody>
      <dsp:txXfrm>
        <a:off x="7103729" y="33241"/>
        <a:ext cx="830528" cy="643396"/>
      </dsp:txXfrm>
    </dsp:sp>
    <dsp:sp modelId="{6EADA40E-ECF8-4EF2-9B35-A9DD5D6A50D5}">
      <dsp:nvSpPr>
        <dsp:cNvPr id="9" name="Rounded Rectangle 8"/>
        <dsp:cNvSpPr/>
      </dsp:nvSpPr>
      <dsp:spPr bwMode="white">
        <a:xfrm>
          <a:off x="8302511" y="0"/>
          <a:ext cx="2584221" cy="192837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42240" tIns="142240" rIns="142240" bIns="76200" anchor="t" anchorCtr="0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/>
            <a:t>Transformation</a:t>
          </a:r>
          <a:endParaRPr lang="en-US" sz="2000"/>
        </a:p>
      </dsp:txBody>
      <dsp:txXfrm>
        <a:off x="8302511" y="0"/>
        <a:ext cx="2584221" cy="1928375"/>
      </dsp:txXfrm>
    </dsp:sp>
    <dsp:sp modelId="{39BA4712-27E2-4423-ADD6-9F9BD3D8FB35}">
      <dsp:nvSpPr>
        <dsp:cNvPr id="10" name="Rounded Rectangle 9"/>
        <dsp:cNvSpPr/>
      </dsp:nvSpPr>
      <dsp:spPr bwMode="white">
        <a:xfrm>
          <a:off x="8831809" y="709878"/>
          <a:ext cx="2584221" cy="2571167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13792" tIns="113792" rIns="113792" bIns="113792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>
              <a:solidFill>
                <a:schemeClr val="dk1"/>
              </a:solidFill>
              <a:sym typeface="+mn-ea"/>
            </a:rPr>
            <a:t>bella/documentation/</a:t>
          </a:r>
          <a:r>
            <a:rPr lang="en-US" altLang="en-US" sz="1600">
              <a:solidFill>
                <a:schemeClr val="dk1"/>
              </a:solidFill>
              <a:sym typeface="+mn-ea"/>
            </a:rPr>
            <a:t>transformation</a:t>
          </a:r>
          <a:r>
            <a:rPr lang="en-US" sz="1600">
              <a:solidFill>
                <a:schemeClr val="dk1"/>
              </a:solidFill>
              <a:sym typeface="+mn-ea"/>
            </a:rPr>
            <a:t>/</a:t>
          </a:r>
          <a:r>
            <a:rPr lang="en-US" altLang="en-US" sz="1600">
              <a:solidFill>
                <a:schemeClr val="dk1"/>
              </a:solidFill>
              <a:sym typeface="+mn-ea"/>
            </a:rPr>
            <a:t>analyzing.nb.html</a:t>
          </a:r>
          <a:endParaRPr lang="en-US" altLang="en-US" sz="1600">
            <a:solidFill>
              <a:schemeClr val="dk1"/>
            </a:solidFill>
            <a:sym typeface="+mn-ea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altLang="en-US" sz="1600">
            <a:solidFill>
              <a:schemeClr val="dk1"/>
            </a:solidFill>
            <a:sym typeface="+mn-ea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>
              <a:solidFill>
                <a:schemeClr val="dk1"/>
              </a:solidFill>
              <a:sym typeface="+mn-ea"/>
            </a:rPr>
            <a:t>bella/</a:t>
          </a:r>
          <a:r>
            <a:rPr lang="en-US" sz="1600">
              <a:solidFill>
                <a:schemeClr val="dk1"/>
              </a:solidFill>
              <a:sym typeface="+mn-ea"/>
            </a:rPr>
            <a:t>code/</a:t>
          </a:r>
          <a:r>
            <a:rPr lang="en-US" altLang="en-US" sz="1600">
              <a:solidFill>
                <a:schemeClr val="dk1"/>
              </a:solidFill>
            </a:rPr>
            <a:t>analyzing.Rmd</a:t>
          </a:r>
          <a:endParaRPr lang="en-US" altLang="en-US" sz="1600">
            <a:solidFill>
              <a:schemeClr val="dk1"/>
            </a:solidFill>
          </a:endParaRPr>
        </a:p>
      </dsp:txBody>
      <dsp:txXfrm>
        <a:off x="8831809" y="709878"/>
        <a:ext cx="2584221" cy="2571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srcNode" val="parTx"/>
            <dgm:param type="dstNode" val="parTx"/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l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Case Study: </a:t>
            </a:r>
            <a:r>
              <a:rPr lang="en-US" dirty="0">
                <a:sym typeface="+mn-ea"/>
              </a:rPr>
              <a:t>Bella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/>
              <a:t>Presented by: Lam Vi Nam</a:t>
            </a:r>
            <a:endParaRPr lang="en-US"/>
          </a:p>
          <a:p>
            <a:pPr algn="l"/>
            <a:r>
              <a:rPr lang="en-US"/>
              <a:t>Last Updated: 29-04-2025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/>
              <a:t>Table of 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1. Summary of the business task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 Data source used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 Documentation of data cleaning and </a:t>
            </a:r>
            <a:r>
              <a:rPr lang="en-US" altLang="en-US">
                <a:sym typeface="+mn-ea"/>
              </a:rPr>
              <a:t>data </a:t>
            </a:r>
            <a:r>
              <a:rPr lang="en-US" altLang="en-US"/>
              <a:t>manipulation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4. Visualizations and key findings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5. Recommendations based on analysis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1. Summary of the business task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Provide insights into consumer usage patterns that will then help guide Bellabeat's marketing strategy.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-  Analyze smart device usage data of non-Bellabeat smart devices to answer these questions:</a:t>
            </a:r>
            <a:endParaRPr lang="en-US" altLang="en-US" sz="2000"/>
          </a:p>
          <a:p>
            <a:pPr marL="0" indent="297815">
              <a:buNone/>
            </a:pPr>
            <a:r>
              <a:rPr lang="en-US" altLang="en-US" sz="2000"/>
              <a:t>1. What are some trends in smart device usage?</a:t>
            </a:r>
            <a:endParaRPr lang="en-US" altLang="en-US" sz="2000"/>
          </a:p>
          <a:p>
            <a:pPr marL="0" indent="297815">
              <a:buNone/>
            </a:pPr>
            <a:r>
              <a:rPr lang="en-US" altLang="en-US" sz="2000"/>
              <a:t>2. How could these trends apply to Bellabeat customers?</a:t>
            </a:r>
            <a:endParaRPr lang="en-US" altLang="en-US" sz="2000"/>
          </a:p>
          <a:p>
            <a:pPr marL="0" indent="297815">
              <a:buNone/>
            </a:pPr>
            <a:r>
              <a:rPr lang="en-US" altLang="en-US" sz="2000"/>
              <a:t>3. How could these trends help influence Bellabeat marketing strategy?</a:t>
            </a:r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2. Data source used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890" y="1367790"/>
            <a:ext cx="10515600" cy="4351338"/>
          </a:xfrm>
        </p:spPr>
        <p:txBody>
          <a:bodyPr/>
          <a:p>
            <a:r>
              <a:rPr lang="en-US" altLang="en-US"/>
              <a:t>FitBit Fitness Tracker Data (CCO: Public Domain, dataset made available through Mobius): This Kaggle data set contains personal fitness tracker from thirty fitbit users. </a:t>
            </a:r>
            <a:endParaRPr lang="en-US" altLang="en-US"/>
          </a:p>
          <a:p>
            <a:pPr marL="0" indent="0">
              <a:buNone/>
            </a:pPr>
            <a:r>
              <a:rPr lang="en-US" altLang="en-US" sz="2400"/>
              <a:t>-  Thirty eligible Fitbit users consented to the submission of personal tracker data, including minute-level output for physical activity, heart rate, and sleep monitoring.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-  It includes information about daily activity, steps, and heart rate that can be used to explore users' habits.</a:t>
            </a:r>
            <a:endParaRPr lang="en-US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3. Documentation of data cleaning and </a:t>
            </a:r>
            <a:r>
              <a:rPr lang="en-US" altLang="en-US">
                <a:sym typeface="+mn-ea"/>
              </a:rPr>
              <a:t>data </a:t>
            </a:r>
            <a:r>
              <a:rPr lang="en-US" altLang="en-US">
                <a:sym typeface="+mn-ea"/>
              </a:rPr>
              <a:t>transformation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457200" y="1825625"/>
          <a:ext cx="11416030" cy="32810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4. Visualizations and key findings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1060" y="1691005"/>
            <a:ext cx="7520940" cy="4739640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691005"/>
            <a:ext cx="3672205" cy="4351655"/>
          </a:xfrm>
        </p:spPr>
        <p:txBody>
          <a:bodyPr/>
          <a:p>
            <a:r>
              <a:rPr lang="en-US" altLang="en-US" sz="2000"/>
              <a:t>The amount of daily time spent daily for physical activies is 15% on average </a:t>
            </a:r>
            <a:r>
              <a:rPr lang="en-US" altLang="en-US" sz="2000" b="1">
                <a:sym typeface="+mn-ea"/>
              </a:rPr>
              <a:t>(3 hours a day). </a:t>
            </a:r>
            <a:r>
              <a:rPr lang="en-US" altLang="en-US" sz="2000">
                <a:sym typeface="+mn-ea"/>
              </a:rPr>
              <a:t>Most of users ranges from</a:t>
            </a:r>
            <a:r>
              <a:rPr lang="en-US" altLang="en-US" sz="2000"/>
              <a:t> from 10% to 20% (2 - 4  hours a day).</a:t>
            </a:r>
            <a:endParaRPr lang="en-US" altLang="en-US" sz="2000" b="1"/>
          </a:p>
          <a:p>
            <a:r>
              <a:rPr lang="en-US" altLang="en-US" sz="2000"/>
              <a:t>This is much higher than the average of people in the </a:t>
            </a:r>
            <a:r>
              <a:rPr lang="en-US" altLang="en-US" sz="2000">
                <a:sym typeface="+mn-ea"/>
              </a:rPr>
              <a:t>US </a:t>
            </a:r>
            <a:r>
              <a:rPr lang="en-US" altLang="en-US" sz="2000" b="1">
                <a:sym typeface="+mn-ea"/>
              </a:rPr>
              <a:t>(about 0.5 hour a day)</a:t>
            </a:r>
            <a:r>
              <a:rPr lang="en-US" altLang="en-US" sz="2000">
                <a:sym typeface="+mn-ea"/>
              </a:rPr>
              <a:t>, which shows </a:t>
            </a:r>
            <a:r>
              <a:rPr lang="en-US" altLang="en-US" sz="2000" b="1">
                <a:sym typeface="+mn-ea"/>
              </a:rPr>
              <a:t>a</a:t>
            </a:r>
            <a:r>
              <a:rPr lang="en-US" altLang="en-US" sz="2000">
                <a:sym typeface="+mn-ea"/>
              </a:rPr>
              <a:t> </a:t>
            </a:r>
            <a:r>
              <a:rPr lang="en-US" altLang="en-US" sz="2000" b="1">
                <a:sym typeface="+mn-ea"/>
              </a:rPr>
              <a:t>high level of physical activity</a:t>
            </a:r>
            <a:r>
              <a:rPr lang="en-US" altLang="en-US" sz="2000" b="1"/>
              <a:t> of </a:t>
            </a:r>
            <a:r>
              <a:rPr lang="en-US" altLang="en-US" sz="2000" b="1">
                <a:sym typeface="+mn-ea"/>
              </a:rPr>
              <a:t>FitBit users</a:t>
            </a:r>
            <a:r>
              <a:rPr lang="en-US" altLang="en-US" sz="2000">
                <a:sym typeface="+mn-ea"/>
              </a:rPr>
              <a:t>.</a:t>
            </a:r>
            <a:endParaRPr lang="en-US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4. Visualizations and key findings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290" y="1691005"/>
            <a:ext cx="4763135" cy="4351655"/>
          </a:xfrm>
        </p:spPr>
        <p:txBody>
          <a:bodyPr/>
          <a:p>
            <a:r>
              <a:rPr lang="en-US" altLang="en-US" sz="2400"/>
              <a:t>Most of the users already had a </a:t>
            </a:r>
            <a:r>
              <a:rPr lang="en-US" altLang="en-US" sz="2400" b="1"/>
              <a:t>healthy amount of sleep hours</a:t>
            </a:r>
            <a:r>
              <a:rPr lang="en-US" altLang="en-US" sz="2400"/>
              <a:t> (more than 6 hours per day). And users who even had 9-to-12-hour sleep is the peak.</a:t>
            </a:r>
            <a:endParaRPr lang="en-US" altLang="en-US" sz="2400"/>
          </a:p>
        </p:txBody>
      </p:sp>
      <p:pic>
        <p:nvPicPr>
          <p:cNvPr id="4" name="Picture 3" descr="Untitled-1"/>
          <p:cNvPicPr>
            <a:picLocks noChangeAspect="1"/>
          </p:cNvPicPr>
          <p:nvPr/>
        </p:nvPicPr>
        <p:blipFill>
          <a:blip r:embed="rId1"/>
          <a:srcRect r="4052"/>
          <a:stretch>
            <a:fillRect/>
          </a:stretch>
        </p:blipFill>
        <p:spPr>
          <a:xfrm>
            <a:off x="5601335" y="1691005"/>
            <a:ext cx="6405245" cy="412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4. Visualizations and key findings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3672205" cy="4351655"/>
          </a:xfrm>
        </p:spPr>
        <p:txBody>
          <a:bodyPr/>
          <a:p>
            <a:r>
              <a:rPr lang="en-US" sz="2400" b="1"/>
              <a:t>Light physical activities </a:t>
            </a:r>
            <a:r>
              <a:rPr lang="en-US" altLang="en-US" sz="2400"/>
              <a:t>occupies a major </a:t>
            </a:r>
            <a:r>
              <a:rPr lang="en-US" altLang="en-US" sz="2400" b="1"/>
              <a:t>time </a:t>
            </a:r>
            <a:r>
              <a:rPr lang="en-US" altLang="en-US" sz="2400"/>
              <a:t>proportion (84.9%), dominating the two other types of active activites.</a:t>
            </a:r>
            <a:endParaRPr lang="en-US" altLang="en-US" sz="2400"/>
          </a:p>
        </p:txBody>
      </p:sp>
      <p:pic>
        <p:nvPicPr>
          <p:cNvPr id="4" name="Picture 3" descr="Untitled"/>
          <p:cNvPicPr>
            <a:picLocks noChangeAspect="1"/>
          </p:cNvPicPr>
          <p:nvPr/>
        </p:nvPicPr>
        <p:blipFill>
          <a:blip r:embed="rId1"/>
          <a:srcRect r="25312" b="6336"/>
          <a:stretch>
            <a:fillRect/>
          </a:stretch>
        </p:blipFill>
        <p:spPr>
          <a:xfrm>
            <a:off x="5238115" y="1579245"/>
            <a:ext cx="6577965" cy="50971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4. Visualizations and key findings</a:t>
            </a:r>
            <a:endParaRPr lang="en-US"/>
          </a:p>
        </p:txBody>
      </p:sp>
      <p:pic>
        <p:nvPicPr>
          <p:cNvPr id="4" name="Picture 3" descr="Untitled"/>
          <p:cNvPicPr>
            <a:picLocks noChangeAspect="1"/>
          </p:cNvPicPr>
          <p:nvPr/>
        </p:nvPicPr>
        <p:blipFill>
          <a:blip r:embed="rId1"/>
          <a:srcRect r="2464"/>
          <a:stretch>
            <a:fillRect/>
          </a:stretch>
        </p:blipFill>
        <p:spPr>
          <a:xfrm>
            <a:off x="5059045" y="1507490"/>
            <a:ext cx="6986905" cy="4427220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691005"/>
            <a:ext cx="3672205" cy="4351655"/>
          </a:xfrm>
        </p:spPr>
        <p:txBody>
          <a:bodyPr/>
          <a:p>
            <a:r>
              <a:rPr lang="en-US" sz="2400" b="1"/>
              <a:t>Light physical activities </a:t>
            </a:r>
            <a:r>
              <a:rPr lang="en-US" altLang="en-US" sz="2400"/>
              <a:t>occupies a major </a:t>
            </a:r>
            <a:r>
              <a:rPr lang="en-US" altLang="en-US" sz="2400" b="1"/>
              <a:t>distance </a:t>
            </a:r>
            <a:r>
              <a:rPr lang="en-US" altLang="en-US" sz="2400"/>
              <a:t>proportion (62.2%), even though less so comparing to the previous dimension.</a:t>
            </a:r>
            <a:endParaRPr lang="en-US" altLang="en-US" sz="2400"/>
          </a:p>
          <a:p>
            <a:r>
              <a:rPr lang="en-US" altLang="en-US" sz="2400"/>
              <a:t>So it’s worth noticing </a:t>
            </a:r>
            <a:r>
              <a:rPr lang="en-US" altLang="en-US" sz="2400" b="1"/>
              <a:t>moderate </a:t>
            </a:r>
            <a:r>
              <a:rPr lang="en-US" altLang="en-US" sz="2400"/>
              <a:t>and </a:t>
            </a:r>
            <a:r>
              <a:rPr lang="en-US" altLang="en-US" sz="2400" b="1"/>
              <a:t>very active physical activities</a:t>
            </a:r>
            <a:r>
              <a:rPr lang="en-US" altLang="en-US" sz="2400"/>
              <a:t> but to a lesser extent.</a:t>
            </a:r>
            <a:endParaRPr lang="en-US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4. Visualizations and key findings</a:t>
            </a:r>
            <a:endParaRPr lang="en-US"/>
          </a:p>
        </p:txBody>
      </p:sp>
      <p:pic>
        <p:nvPicPr>
          <p:cNvPr id="4" name="Picture 3" descr="Untitl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0475" y="1691005"/>
            <a:ext cx="7121525" cy="4400550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23290" y="1691005"/>
            <a:ext cx="3814445" cy="4351655"/>
          </a:xfrm>
        </p:spPr>
        <p:txBody>
          <a:bodyPr>
            <a:normAutofit fontScale="90000" lnSpcReduction="20000"/>
          </a:bodyPr>
          <a:p>
            <a:r>
              <a:rPr lang="en-US" altLang="en-US" sz="2400"/>
              <a:t>The most easily regconizable peak intensity period is from 17:00 to 20:00. The second one is from 12:00 to 15:00.</a:t>
            </a:r>
            <a:endParaRPr lang="en-US" altLang="en-US" sz="2400"/>
          </a:p>
          <a:p>
            <a:r>
              <a:rPr lang="en-US" altLang="en-US" sz="2400"/>
              <a:t>Amping up periods are time windows that precede the peaks and see a relative increase in intensity levels. Those are: “8:00 to 12:00”, “15:00 to 17:00”.</a:t>
            </a:r>
            <a:endParaRPr lang="en-US" altLang="en-US" sz="2400"/>
          </a:p>
          <a:p>
            <a:r>
              <a:rPr lang="en-US" altLang="en-US" sz="2400"/>
              <a:t>Winding down periods: the rest.</a:t>
            </a:r>
            <a:endParaRPr lang="en-US" altLang="en-US" sz="2400"/>
          </a:p>
          <a:p>
            <a:r>
              <a:rPr lang="en-US" altLang="en-US" sz="2400"/>
              <a:t>Worth noticing window: </a:t>
            </a:r>
            <a:r>
              <a:rPr lang="en-US" altLang="en-US" sz="2400" b="1"/>
              <a:t>“15:00 to 17:00”</a:t>
            </a:r>
            <a:r>
              <a:rPr lang="en-US" altLang="en-US" sz="2400"/>
              <a:t> </a:t>
            </a:r>
            <a:r>
              <a:rPr lang="en-US" altLang="en-US" sz="2400" b="1"/>
              <a:t>(both amping up and winding down).</a:t>
            </a:r>
            <a:endParaRPr lang="en-US" altLang="en-US" sz="24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t="32353" r="44718" b="30258"/>
          <a:stretch>
            <a:fillRect/>
          </a:stretch>
        </p:blipFill>
        <p:spPr>
          <a:xfrm>
            <a:off x="0" y="0"/>
            <a:ext cx="4107180" cy="1065530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838200" y="1409700"/>
            <a:ext cx="10515600" cy="4038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ym typeface="+mn-ea"/>
              </a:rPr>
              <a:t>Fitbit users demonstrate a higher level of physical activity compared to the average person. Additionally, an examination of their sleep habits indicates that </a:t>
            </a:r>
            <a:r>
              <a:rPr lang="en-US" altLang="en-US" b="1">
                <a:sym typeface="+mn-ea"/>
              </a:rPr>
              <a:t>Fitbit users are health-conscious</a:t>
            </a:r>
            <a:r>
              <a:rPr lang="en-US" altLang="en-US">
                <a:sym typeface="+mn-ea"/>
              </a:rPr>
              <a:t> .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The activity profile shifts toward light activities. Moderate and very active physical activities are noticeable but to a lesser extent.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5. Recommendations based on analysis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6680"/>
            <a:ext cx="10515600" cy="29533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000"/>
              <a:t>Assumption: </a:t>
            </a:r>
            <a:endParaRPr lang="en-US" sz="2000"/>
          </a:p>
          <a:p>
            <a:pPr>
              <a:buFont typeface="Wingdings" panose="05000000000000000000" charset="0"/>
              <a:buChar char="v"/>
            </a:pPr>
            <a:r>
              <a:rPr lang="en-US" sz="1600"/>
              <a:t> The sample size is sufficient to represent the population.</a:t>
            </a:r>
            <a:endParaRPr lang="en-US" sz="1600"/>
          </a:p>
          <a:p>
            <a:pPr>
              <a:buFont typeface="Wingdings" panose="05000000000000000000" charset="0"/>
              <a:buChar char="v"/>
            </a:pPr>
            <a:r>
              <a:rPr lang="en-US" sz="1600"/>
              <a:t> FitBit and Bella customer bases are similar.</a:t>
            </a:r>
            <a:endParaRPr lang="en-US" sz="1600"/>
          </a:p>
          <a:p>
            <a:pPr>
              <a:buFont typeface="Wingdings" panose="05000000000000000000" charset="0"/>
              <a:buChar char="v"/>
            </a:pPr>
            <a:r>
              <a:rPr lang="en-US" altLang="en-US" sz="1600"/>
              <a:t> Light </a:t>
            </a:r>
            <a:r>
              <a:rPr lang="en-US" altLang="en-US" sz="1600">
                <a:sym typeface="+mn-ea"/>
              </a:rPr>
              <a:t>activities</a:t>
            </a:r>
            <a:r>
              <a:rPr lang="en-US" altLang="en-US" sz="1600"/>
              <a:t>: includes leisurely walking or other low-effort movements.</a:t>
            </a:r>
            <a:endParaRPr lang="en-US" altLang="en-US" sz="1600"/>
          </a:p>
          <a:p>
            <a:pPr>
              <a:buFont typeface="Wingdings" panose="05000000000000000000" charset="0"/>
              <a:buChar char="v"/>
            </a:pPr>
            <a:r>
              <a:rPr lang="en-US" altLang="en-US" sz="1600"/>
              <a:t> Moderate activities: includes activities like brisk walking, moderate cycling, or other activities that elevate your heart rate and breathing somewhat but where you can still hold a conversation.</a:t>
            </a:r>
            <a:endParaRPr lang="en-US" altLang="en-US" sz="1600"/>
          </a:p>
          <a:p>
            <a:pPr>
              <a:buFont typeface="Wingdings" panose="05000000000000000000" charset="0"/>
              <a:buChar char="v"/>
            </a:pPr>
            <a:r>
              <a:rPr lang="en-US" altLang="en-US" sz="1600"/>
              <a:t> Very active </a:t>
            </a:r>
            <a:r>
              <a:rPr lang="en-US" altLang="en-US" sz="1600">
                <a:sym typeface="+mn-ea"/>
              </a:rPr>
              <a:t>activities</a:t>
            </a:r>
            <a:r>
              <a:rPr lang="en-US" altLang="en-US" sz="1600"/>
              <a:t>: includes activities like running, high-intensity interval training (HIIT), or other efforts where you are breathing heavily and finding it difficult to speak in full sentences.</a:t>
            </a:r>
            <a:endParaRPr lang="en-US" altLang="en-US" sz="1600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838200" y="4329430"/>
            <a:ext cx="10515600" cy="39903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Recommendations</a:t>
            </a:r>
            <a:endParaRPr lang="en-US"/>
          </a:p>
          <a:p>
            <a:pPr>
              <a:buFont typeface="Wingdings" panose="05000000000000000000" charset="0"/>
              <a:buChar char="v"/>
            </a:pPr>
            <a:r>
              <a:rPr lang="en-US" altLang="en-US" sz="2400">
                <a:sym typeface="+mn-ea"/>
              </a:rPr>
              <a:t> The time window for ads is</a:t>
            </a:r>
            <a:r>
              <a:rPr lang="en-US" sz="2400">
                <a:sym typeface="+mn-ea"/>
              </a:rPr>
              <a:t> from </a:t>
            </a:r>
            <a:r>
              <a:rPr lang="en-US" altLang="en-US" sz="2400" b="1">
                <a:sym typeface="+mn-ea"/>
              </a:rPr>
              <a:t>15:00 to 17:00, in which people would have finished their work-out or prepared for one. </a:t>
            </a:r>
            <a:r>
              <a:rPr lang="en-US" altLang="en-US" sz="2400">
                <a:sym typeface="+mn-ea"/>
              </a:rPr>
              <a:t>(high level of motivation, high level of contentment, problem-product association, etc.)</a:t>
            </a:r>
            <a:endParaRPr lang="en-US" sz="2400"/>
          </a:p>
          <a:p>
            <a:pPr>
              <a:buFont typeface="Wingdings" panose="05000000000000000000" charset="0"/>
              <a:buChar char="v"/>
            </a:pPr>
            <a:r>
              <a:rPr lang="en-US" sz="2400"/>
              <a:t> The ads content should </a:t>
            </a:r>
            <a:r>
              <a:rPr lang="en-US" sz="2400" b="1"/>
              <a:t>show a healthy and active lifestyle</a:t>
            </a:r>
            <a:r>
              <a:rPr lang="en-US" sz="2400"/>
              <a:t> in which light physical activities (a large ads portion) and moderate/heavy physical activities (a smaller ads portion) are the focus.</a:t>
            </a:r>
            <a:endParaRPr lang="en-US" sz="2400"/>
          </a:p>
        </p:txBody>
      </p:sp>
      <p:cxnSp>
        <p:nvCxnSpPr>
          <p:cNvPr id="8" name="Straight Connector 7"/>
          <p:cNvCxnSpPr/>
          <p:nvPr/>
        </p:nvCxnSpPr>
        <p:spPr>
          <a:xfrm>
            <a:off x="968375" y="4146550"/>
            <a:ext cx="103695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3882</Words>
  <Application>WPS Slides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Wingdings</vt:lpstr>
      <vt:lpstr>Calibri Light</vt:lpstr>
      <vt:lpstr>Calibri</vt:lpstr>
      <vt:lpstr>Microsoft YaHei</vt:lpstr>
      <vt:lpstr>Arial Unicode MS</vt:lpstr>
      <vt:lpstr>Office Theme</vt:lpstr>
      <vt:lpstr>Case Study: Bella</vt:lpstr>
      <vt:lpstr>Table of Contents</vt:lpstr>
      <vt:lpstr>1. Summary of the business task</vt:lpstr>
      <vt:lpstr>2. Data source used</vt:lpstr>
      <vt:lpstr>3. Documentation of data cleaning and data transformation</vt:lpstr>
      <vt:lpstr>4. Visualizations and key findings</vt:lpstr>
      <vt:lpstr>4. Visualizations and key findings</vt:lpstr>
      <vt:lpstr>4. Visualizations and key findings</vt:lpstr>
      <vt:lpstr>4. Visualizations and key findings</vt:lpstr>
      <vt:lpstr>4. Visualizations and key findings</vt:lpstr>
      <vt:lpstr>PowerPoint 演示文稿</vt:lpstr>
      <vt:lpstr>5. Recommendations based on analysis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Study: Bella</dc:title>
  <dc:creator/>
  <cp:lastModifiedBy>Nam Lâm</cp:lastModifiedBy>
  <cp:revision>8</cp:revision>
  <dcterms:created xsi:type="dcterms:W3CDTF">2025-04-29T07:03:00Z</dcterms:created>
  <dcterms:modified xsi:type="dcterms:W3CDTF">2025-04-30T01:59:30Z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062CB4220DE944A5907C66B08C0324D7_11</vt:lpwstr>
  </property>
  <property fmtid="{D5CDD505-2E9C-101B-9397-08002B2CF9AE}" pid="3" name="KSOProductBuildVer">
    <vt:lpwstr>1033-12.2.0.20795</vt:lpwstr>
  </property>
</Properties>
</file>